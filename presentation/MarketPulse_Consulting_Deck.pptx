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MarketPulse: Executive 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 Bengaluru first using the Medium Pricing strategy.\nSubject to CAC remaining below ₹300.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 across 5 tier-1 cities is estimated at ₹1.2T annually.</a:t>
            </a:r>
          </a:p>
          <a:p>
            <a:pPr lvl="1"/>
            <a:r>
              <a:t>Significant headroom for growth due to increasing internet penetration and e-commerce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players: Blinkit, Zepto, Swiggy Instamart.</a:t>
            </a:r>
          </a:p>
          <a:p>
            <a:pPr lvl="1"/>
            <a:r>
              <a:t>Competition is highest in Mumbai and Delhi NCR. Bengaluru offers balanced competition/demand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RFM analysis reveals 5 distinct segments.</a:t>
            </a:r>
          </a:p>
          <a:p>
            <a:pPr lvl="1"/>
            <a:r>
              <a:t>The 'Frequent' segment drives 45% of total contribution margin despite being only 25% of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Bengaluru, Mumbai, Delhi NCR, Hyderabad, Pune.</a:t>
            </a:r>
          </a:p>
          <a:p>
            <a:pPr lvl="1"/>
            <a:r>
              <a:t>Evaluated based on Population, Households, MPCE, and Competition intensity.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Entry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Bengaluru: 8.42 (Rank 1)</a:t>
            </a:r>
          </a:p>
          <a:p>
            <a:pPr lvl="1"/>
            <a:r>
              <a:t>Hyderabad: 7.91 (Rank 2)\nMumbai: 7.65 (Rank 3) due to high operating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Modeled Low, Medium, and Premium strategies.</a:t>
            </a:r>
          </a:p>
          <a:p>
            <a:pPr lvl="1"/>
            <a:r>
              <a:t>Medium strategy maximizes long-term profitability by balancing demand elasticity with margin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P&amp;L projections over 3 years.</a:t>
            </a:r>
          </a:p>
          <a:p>
            <a:pPr lvl="1"/>
            <a:r>
              <a:t>Expected break-even in Month 18 under Base Case scenario.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Optimistic vs Base vs Pessimistic.</a:t>
            </a:r>
          </a:p>
          <a:p>
            <a:pPr lvl="1"/>
            <a:r>
              <a:t>Pessimistic scenario delays break-even to Month 26, but operations remain viable.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Acquisition Cost (CAC) escalation.\n2. Aggressive competitor discounting.</a:t>
            </a:r>
          </a:p>
          <a:p>
            <a:pPr lvl="1"/>
            <a:r>
              <a:t>Mitigation: Focus on organic retention programs (cohort analysis demonstrates strong Month-2 retention).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Pilot in Bengaluru (Months 1-3).</a:t>
            </a:r>
          </a:p>
          <a:p>
            <a:pPr lvl="1"/>
            <a:r>
              <a:t>Phase 2: Scale across top 10 pin codes (Months 4-6).\nPhase 3: Hyderabad entry (Month 12).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operations in Bengaluru.</a:t>
            </a:r>
          </a:p>
          <a:p>
            <a:pPr lvl="1"/>
            <a:r>
              <a:t>Trigger: Re-evaluate expansion if CAC exceeds ₹350 or contribution margin remains below 12% for 3 consecutive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